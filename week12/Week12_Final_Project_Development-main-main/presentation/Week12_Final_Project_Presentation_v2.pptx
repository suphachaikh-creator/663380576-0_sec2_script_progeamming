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ac33a0f5ed4af0" /><Relationship Type="http://schemas.openxmlformats.org/officeDocument/2006/relationships/extended-properties" Target="/docProps/app.xml" Id="R822e57ae514c44fc" /><Relationship Type="http://schemas.openxmlformats.org/officeDocument/2006/relationships/officeDocument" Target="/ppt/presentation.xml" Id="R42af1aaf126b4a83" /></Relationships>
</file>

<file path=ppt/presentation.xml><?xml version="1.0" encoding="utf-8"?>
<p:presentation xmlns:p="http://schemas.openxmlformats.org/presentationml/2006/main">
  <p:sldMasterIdLst>
    <p:sldMasterId xmlns:r="http://schemas.openxmlformats.org/officeDocument/2006/relationships" id="2147483648" r:id="Rbd22bbff37c44d81"/>
  </p:sldMasterIdLst>
  <p:notesMasterIdLst>
    <p:notesMasterId xmlns:r="http://schemas.openxmlformats.org/officeDocument/2006/relationships" r:id="R5106226243904238"/>
  </p:notesMasterIdLst>
  <p:sldIdLst>
    <p:sldId xmlns:r="http://schemas.openxmlformats.org/officeDocument/2006/relationships" id="256" r:id="R0afb4a11ddbf44af"/>
    <p:sldId xmlns:r="http://schemas.openxmlformats.org/officeDocument/2006/relationships" id="257" r:id="Ra4b571046b304a73"/>
    <p:sldId xmlns:r="http://schemas.openxmlformats.org/officeDocument/2006/relationships" id="258" r:id="R230fbaa6a031447d"/>
    <p:sldId xmlns:r="http://schemas.openxmlformats.org/officeDocument/2006/relationships" id="259" r:id="R8bf610254f954a50"/>
    <p:sldId xmlns:r="http://schemas.openxmlformats.org/officeDocument/2006/relationships" id="260" r:id="Reb970d878c5c48b4"/>
    <p:sldId xmlns:r="http://schemas.openxmlformats.org/officeDocument/2006/relationships" id="261" r:id="Rc2c37f0642384606"/>
    <p:sldId xmlns:r="http://schemas.openxmlformats.org/officeDocument/2006/relationships" id="262" r:id="Rb4b6d27655c243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0d729d69e74d47" /><Relationship Type="http://schemas.openxmlformats.org/officeDocument/2006/relationships/slideMaster" Target="/ppt/slideMasters/slideMaster1.xml" Id="Rbd22bbff37c44d81" /><Relationship Type="http://schemas.openxmlformats.org/officeDocument/2006/relationships/notesMaster" Target="/ppt/notesMasters/notesMaster1.xml" Id="R5106226243904238" /><Relationship Type="http://schemas.openxmlformats.org/officeDocument/2006/relationships/presProps" Target="/ppt/presProps.xml" Id="R0f3c0e0175364fd7" /><Relationship Type="http://schemas.openxmlformats.org/officeDocument/2006/relationships/tableStyles" Target="/ppt/tableStyles.xml" Id="R8ec909f377334340" /><Relationship Type="http://schemas.openxmlformats.org/officeDocument/2006/relationships/slide" Target="/ppt/slides/slide1.xml" Id="R0afb4a11ddbf44af" /><Relationship Type="http://schemas.openxmlformats.org/officeDocument/2006/relationships/slide" Target="/ppt/slides/slide2.xml" Id="Ra4b571046b304a73" /><Relationship Type="http://schemas.openxmlformats.org/officeDocument/2006/relationships/slide" Target="/ppt/slides/slide3.xml" Id="R230fbaa6a031447d" /><Relationship Type="http://schemas.openxmlformats.org/officeDocument/2006/relationships/slide" Target="/ppt/slides/slide4.xml" Id="R8bf610254f954a50" /><Relationship Type="http://schemas.openxmlformats.org/officeDocument/2006/relationships/slide" Target="/ppt/slides/slide5.xml" Id="Reb970d878c5c48b4" /><Relationship Type="http://schemas.openxmlformats.org/officeDocument/2006/relationships/slide" Target="/ppt/slides/slide6.xml" Id="Rc2c37f0642384606" /><Relationship Type="http://schemas.openxmlformats.org/officeDocument/2006/relationships/slide" Target="/ppt/slides/slide7.xml" Id="Rb4b6d27655c243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01e630f7b84d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c2277a248f4aa1" /><Relationship Type="http://schemas.openxmlformats.org/officeDocument/2006/relationships/notesMaster" Target="/ppt/notesMasters/notesMaster1.xml" Id="Rbdd99d87d87d4e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6c22e57d704296" /><Relationship Type="http://schemas.openxmlformats.org/officeDocument/2006/relationships/notesMaster" Target="/ppt/notesMasters/notesMaster1.xml" Id="R3ef1de6aae6249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dfa592408c4502" /><Relationship Type="http://schemas.openxmlformats.org/officeDocument/2006/relationships/notesMaster" Target="/ppt/notesMasters/notesMaster1.xml" Id="Rb881cd64b6244e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8efdabedfb4493" /><Relationship Type="http://schemas.openxmlformats.org/officeDocument/2006/relationships/notesMaster" Target="/ppt/notesMasters/notesMaster1.xml" Id="R84d523add7ab46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ee57413ac74453" /><Relationship Type="http://schemas.openxmlformats.org/officeDocument/2006/relationships/notesMaster" Target="/ppt/notesMasters/notesMaster1.xml" Id="R44c9f082c2b64f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e4be0a0e6d4a7f" /><Relationship Type="http://schemas.openxmlformats.org/officeDocument/2006/relationships/notesMaster" Target="/ppt/notesMasters/notesMaster1.xml" Id="R732cb7ff44b84e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aaae6c70724ea7" /><Relationship Type="http://schemas.openxmlformats.org/officeDocument/2006/relationships/notesMaster" Target="/ppt/notesMasters/notesMaster1.xml" Id="Rd601f6a585054f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 35 seconds</a:t>
            </a:r>
          </a:p>
          <a:p xmlns:a="http://schemas.openxmlformats.org/drawingml/2006/main">
            <a:r>
              <a:t/>
            </a:r>
          </a:p>
          <a:p xmlns:a="http://schemas.openxmlformats.org/drawingml/2006/main">
            <a:r>
              <a:t>Hello, my name is [Student name], student ID [Student ID], Section [Section]. This project is an object-oriented command-line task manager. It stores regular tasks, tasks with due dates, and tasks with priorities. I will show its main features, architecture, and what I learned.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solved | 40 seconds</a:t>
            </a:r>
          </a:p>
          <a:p xmlns:a="http://schemas.openxmlformats.org/drawingml/2006/main">
            <a:r>
              <a:t/>
            </a:r>
          </a:p>
          <a:p xmlns:a="http://schemas.openxmlformats.org/drawingml/2006/main">
            <a:r>
              <a:t>The project brings different kinds of tasks into one CLI. A task can have a completion status and tags; specialized tasks can also carry a due date or a priority. The application supports finding tasks, narrowing them by multiple conditions, and sorting mixed task types. JSON persistence keeps tasks available after the program closes.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 2 minutes</a:t>
            </a:r>
          </a:p>
          <a:p xmlns:a="http://schemas.openxmlformats.org/drawingml/2006/main">
            <a:r>
              <a:t/>
            </a:r>
          </a:p>
          <a:p xmlns:a="http://schemas.openxmlformats.org/drawingml/2006/main">
            <a:r>
              <a:t>Start with the six sample tasks. Choose 2 and add Final Project Submission, due 2026-10-15, tags study, urgent, final. Choose 4 to show the list. Choose 7 and search urgent. Choose 8: leave status blank, enter 2026-10-01 for due before, leave due after and priority blank, and enter study for tags. Choose 9, sort by priority, and answer no to reverse. Choose 5 and complete the newly added task ID 7. Choose 0 to exit, start the app again, and choose 4 to confirm the completed state was saved. The JSON file saves changes, so restore data/tasks.json from the provided sample after rehearsal if you need a clean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 50 seconds</a:t>
            </a:r>
          </a:p>
          <a:p xmlns:a="http://schemas.openxmlformats.org/drawingml/2006/main">
            <a:r>
              <a:t/>
            </a:r>
          </a:p>
          <a:p xmlns:a="http://schemas.openxmlformats.org/drawingml/2006/main">
            <a:r>
              <a:t>The CLI handles prompts and input validation. TaskManager owns the task collection and business rules. DataPersistence handles JSON serialization and reconstructs each class using the type field. Task is the base class; DueDateTask and PriorityTask inherit shared fields and override serialization and display. This separation keeps terminal interaction, business rules, storage, and models in separate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Challenges and solutions | 55 seconds</a:t>
            </a:r>
          </a:p>
          <a:p xmlns:a="http://schemas.openxmlformats.org/drawingml/2006/main">
            <a:r>
              <a:t/>
            </a:r>
          </a:p>
          <a:p xmlns:a="http://schemas.openxmlformats.org/drawingml/2006/main">
            <a:r>
              <a:t>Sorting mixed object types can fail when a normal task has no due_date or priority. The manager sorts specialized tasks separately and keeps ordinary tasks at the end, even when the direction is reversed. Filtering checks the task type before using specialized fields. Persistence stores a type marker and defaults missing tags to an empty list to keep older JSON records readable. The reverse-sort edge case now has a regression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Lessons learned | 45 seconds</a:t>
            </a:r>
          </a:p>
          <a:p xmlns:a="http://schemas.openxmlformats.org/drawingml/2006/main">
            <a:r>
              <a:t/>
            </a:r>
          </a:p>
          <a:p xmlns:a="http://schemas.openxmlformats.org/drawingml/2006/main">
            <a:r>
              <a:t>Inheritance lets each task type share common behavior while preserving its own fields. Polymorphic to_dict methods let the persistence layer serialize different task types through one interface. Separating the CLI, business logic, models, and persistence makes each part easier to test. Unit tests also caught regressions in CRUD, search, filtering, sorting, and JSON reload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work &amp; Q&amp;A | 40 seconds</a:t>
            </a:r>
          </a:p>
          <a:p xmlns:a="http://schemas.openxmlformats.org/drawingml/2006/main">
            <a:r>
              <a:t/>
            </a:r>
          </a:p>
          <a:p xmlns:a="http://schemas.openxmlformats.org/drawingml/2006/main">
            <a:r>
              <a:t>Possible next steps are editing existing tasks, adding recurring reminders, and exporting tasks to CSV. These are future ideas, not features in the current project. Thank you. I am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d572e048ab48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bd1e287b854dd5" /><Relationship Type="http://schemas.openxmlformats.org/officeDocument/2006/relationships/slideLayout" Target="/ppt/slideLayouts/slideLayout1.xml" Id="Rcf710fb365c44e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710fb365c44e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d08467d4c64475" /><Relationship Type="http://schemas.openxmlformats.org/officeDocument/2006/relationships/notesSlide" Target="/ppt/notesSlides/notesSlide1.xml" Id="R22758d6a81064c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69042bbb1d4f2d" /><Relationship Type="http://schemas.openxmlformats.org/officeDocument/2006/relationships/notesSlide" Target="/ppt/notesSlides/notesSlide2.xml" Id="R42897b9e3f7a4e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e21c099bdb43e8" /><Relationship Type="http://schemas.openxmlformats.org/officeDocument/2006/relationships/notesSlide" Target="/ppt/notesSlides/notesSlide3.xml" Id="Rc190e5f230ca47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11a7dffc904d99" /><Relationship Type="http://schemas.openxmlformats.org/officeDocument/2006/relationships/notesSlide" Target="/ppt/notesSlides/notesSlide4.xml" Id="R21757945830940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3510cf9666486a" /><Relationship Type="http://schemas.openxmlformats.org/officeDocument/2006/relationships/notesSlide" Target="/ppt/notesSlides/notesSlide5.xml" Id="R8ac65eb31b7b4a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9b5ba36ce044356" /><Relationship Type="http://schemas.openxmlformats.org/officeDocument/2006/relationships/notesSlide" Target="/ppt/notesSlides/notesSlide6.xml" Id="R8af3f77e642b4a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d1c490452464ecb" /><Relationship Type="http://schemas.openxmlformats.org/officeDocument/2006/relationships/notesSlide" Target="/ppt/notesSlides/notesSlide7.xml" Id="Rbed0658b3b674f6b" /></Relationships>
</file>

<file path=ppt/slides/slide1.xml><?xml version="1.0" encoding="utf-8"?>
<p:sld xmlns:p="http://schemas.openxmlformats.org/presentationml/2006/main">
  <p:cSld>
    <p:bg>
      <p:bgPr>
        <a:solidFill xmlns:a="http://schemas.openxmlformats.org/drawingml/2006/main">
          <a:srgbClr val="1024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C646D2-A402-44DC-8A06-9A37EB78F2E0}"/>
              </a:ext>
            </a:extLst>
          </p:cNvPr>
          <p:cNvSpPr>
            <a:spLocks xmlns:a="http://schemas.openxmlformats.org/drawingml/2006/main" noGrp="1"/>
          </p:cNvSpPr>
          <p:nvPr/>
        </p:nvSpPr>
        <p:spPr>
          <a:xfrm xmlns:a="http://schemas.openxmlformats.org/drawingml/2006/main">
            <a:off x="723900" y="49530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Enhanced Task Manager CLI</a:t>
            </a:r>
          </a:p>
        </p:txBody>
      </p:sp>
      <p:sp>
        <p:nvSpPr>
          <p:cNvPr id="2" name="">
            <a:extLst xmlns:a="http://schemas.openxmlformats.org/drawingml/2006/main">
              <a:ext uri="{FF2B5EF4-FFF2-40B4-BE49-F238E27FC236}">
                <a16:creationId xmlns:a16="http://schemas.microsoft.com/office/drawing/2014/main" id="{EF1CF4A2-4E40-4502-BD78-51E9F5E2E308}"/>
              </a:ext>
            </a:extLst>
          </p:cNvPr>
          <p:cNvSpPr>
            <a:spLocks xmlns:a="http://schemas.openxmlformats.org/drawingml/2006/main" noGrp="1"/>
          </p:cNvSpPr>
          <p:nvPr/>
        </p:nvSpPr>
        <p:spPr>
          <a:xfrm xmlns:a="http://schemas.openxmlformats.org/drawingml/2006/main">
            <a:off x="762000" y="17145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9AD8C8"/>
                </a:solidFill>
                <a:latin typeface="Arial"/>
                <a:ea typeface="Arial"/>
                <a:cs typeface="Arial"/>
              </a:defRPr>
            </a:pPr>
            <a:r>
              <a:rPr sz="2250" b="1">
                <a:solidFill>
                  <a:srgbClr val="9AD8C8"/>
                </a:solidFill>
                <a:latin typeface="Arial"/>
                <a:ea typeface="Arial"/>
                <a:cs typeface="Arial"/>
              </a:rPr>
              <a:t>Week 12 Final Project</a:t>
            </a:r>
          </a:p>
        </p:txBody>
      </p:sp>
      <p:sp>
        <p:nvSpPr>
          <p:cNvPr id="3" name="">
            <a:extLst xmlns:a="http://schemas.openxmlformats.org/drawingml/2006/main">
              <a:ext uri="{FF2B5EF4-FFF2-40B4-BE49-F238E27FC236}">
                <a16:creationId xmlns:a16="http://schemas.microsoft.com/office/drawing/2014/main" id="{7020039B-3F54-4DF1-BA01-08980DE6F0AE}"/>
              </a:ext>
            </a:extLst>
          </p:cNvPr>
          <p:cNvSpPr>
            <a:spLocks xmlns:a="http://schemas.openxmlformats.org/drawingml/2006/main" noGrp="1"/>
          </p:cNvSpPr>
          <p:nvPr/>
        </p:nvSpPr>
        <p:spPr>
          <a:xfrm xmlns:a="http://schemas.openxmlformats.org/drawingml/2006/main">
            <a:off x="762000" y="23812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OOP • JSON persistence • Search, filter and sort</a:t>
            </a:r>
          </a:p>
        </p:txBody>
      </p:sp>
      <p:sp>
        <p:nvSpPr>
          <p:cNvPr id="4" name="">
            <a:extLst xmlns:a="http://schemas.openxmlformats.org/drawingml/2006/main">
              <a:ext uri="{FF2B5EF4-FFF2-40B4-BE49-F238E27FC236}">
                <a16:creationId xmlns:a16="http://schemas.microsoft.com/office/drawing/2014/main" id="{466E9195-49FD-47A3-8951-C708A1C6AF87}"/>
              </a:ext>
            </a:extLst>
          </p:cNvPr>
          <p:cNvSpPr>
            <a:spLocks xmlns:a="http://schemas.openxmlformats.org/drawingml/2006/main" noGrp="1"/>
          </p:cNvSpPr>
          <p:nvPr/>
        </p:nvSpPr>
        <p:spPr>
          <a:xfrm xmlns:a="http://schemas.openxmlformats.org/drawingml/2006/main">
            <a:off x="762000" y="5381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D5E1E9"/>
                </a:solidFill>
                <a:latin typeface="Arial"/>
                <a:ea typeface="Arial"/>
                <a:cs typeface="Arial"/>
              </a:defRPr>
            </a:pPr>
            <a:r>
              <a:rPr sz="1650" b="0">
                <a:solidFill>
                  <a:srgbClr val="D5E1E9"/>
                </a:solidFill>
                <a:latin typeface="Arial"/>
                <a:ea typeface="Arial"/>
                <a:cs typeface="Arial"/>
              </a:rPr>
              <a:t>Presenter: [Student name]   |   ID: [Student ID]   |   Section: [Section]</a:t>
            </a:r>
          </a:p>
        </p:txBody>
      </p:sp>
    </p:spTree>
    <p:extLst>
      <p:ext uri="{BB962C8B-B14F-4D97-AF65-F5344CB8AC3E}">
        <p14:creationId xmlns:p14="http://schemas.microsoft.com/office/powerpoint/2010/main" val="1045404045"/>
      </p:ext>
    </p:extLst>
  </p:cSld>
</p:sld>
</file>

<file path=ppt/slides/slide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E797FD-940D-4C88-A737-FEEBAF66E9AC}"/>
              </a:ext>
            </a:extLst>
          </p:cNvPr>
          <p:cNvSpPr>
            <a:spLocks xmlns:a="http://schemas.openxmlformats.org/drawingml/2006/main" noGrp="1"/>
          </p:cNvSpPr>
          <p:nvPr/>
        </p:nvSpPr>
        <p:spPr>
          <a:xfrm xmlns:a="http://schemas.openxmlformats.org/drawingml/2006/main">
            <a:off x="723900" y="49530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050" b="1">
                <a:solidFill>
                  <a:srgbClr val="172C42"/>
                </a:solidFill>
                <a:latin typeface="Arial"/>
                <a:ea typeface="Arial"/>
                <a:cs typeface="Arial"/>
              </a:defRPr>
            </a:pPr>
            <a:r>
              <a:rPr sz="4050" b="1">
                <a:solidFill>
                  <a:srgbClr val="172C42"/>
                </a:solidFill>
                <a:latin typeface="Arial"/>
                <a:ea typeface="Arial"/>
                <a:cs typeface="Arial"/>
              </a:rPr>
              <a:t>Problem and solution</a:t>
            </a:r>
          </a:p>
        </p:txBody>
      </p:sp>
      <p:sp>
        <p:nvSpPr>
          <p:cNvPr id="2" name="">
            <a:extLst xmlns:a="http://schemas.openxmlformats.org/drawingml/2006/main">
              <a:ext uri="{FF2B5EF4-FFF2-40B4-BE49-F238E27FC236}">
                <a16:creationId xmlns:a16="http://schemas.microsoft.com/office/drawing/2014/main" id="{1A16E344-6C96-42C2-A360-05B871FB1DAD}"/>
              </a:ext>
            </a:extLst>
          </p:cNvPr>
          <p:cNvSpPr>
            <a:spLocks xmlns:a="http://schemas.openxmlformats.org/drawingml/2006/main" noGrp="1"/>
          </p:cNvSpPr>
          <p:nvPr/>
        </p:nvSpPr>
        <p:spPr>
          <a:xfrm xmlns:a="http://schemas.openxmlformats.org/drawingml/2006/main">
            <a:off x="781050" y="15811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0B806F"/>
                </a:solidFill>
                <a:latin typeface="Arial"/>
                <a:ea typeface="Arial"/>
                <a:cs typeface="Arial"/>
              </a:defRPr>
            </a:pPr>
            <a:r>
              <a:rPr sz="2550" b="1">
                <a:solidFill>
                  <a:srgbClr val="0B806F"/>
                </a:solidFill>
                <a:latin typeface="Arial"/>
                <a:ea typeface="Arial"/>
                <a:cs typeface="Arial"/>
              </a:rPr>
              <a:t>One task list for different kinds of work</a:t>
            </a:r>
          </a:p>
        </p:txBody>
      </p:sp>
      <p:sp>
        <p:nvSpPr>
          <p:cNvPr id="3" name="">
            <a:extLst xmlns:a="http://schemas.openxmlformats.org/drawingml/2006/main">
              <a:ext uri="{FF2B5EF4-FFF2-40B4-BE49-F238E27FC236}">
                <a16:creationId xmlns:a16="http://schemas.microsoft.com/office/drawing/2014/main" id="{1E9DAE2D-A709-4B8D-B6A7-05DB1E0726B3}"/>
              </a:ext>
            </a:extLst>
          </p:cNvPr>
          <p:cNvSpPr>
            <a:spLocks xmlns:a="http://schemas.openxmlformats.org/drawingml/2006/main" noGrp="1"/>
          </p:cNvSpPr>
          <p:nvPr/>
        </p:nvSpPr>
        <p:spPr>
          <a:xfrm xmlns:a="http://schemas.openxmlformats.org/drawingml/2006/main">
            <a:off x="857250" y="2457450"/>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0">
                <a:solidFill>
                  <a:srgbClr val="172C42"/>
                </a:solidFill>
                <a:latin typeface="Arial"/>
                <a:ea typeface="Arial"/>
                <a:cs typeface="Arial"/>
              </a:defRPr>
            </a:pPr>
            <a:r>
              <a:rPr sz="2175" b="0">
                <a:solidFill>
                  <a:srgbClr val="172C42"/>
                </a:solidFill>
                <a:latin typeface="Arial"/>
                <a:ea typeface="Arial"/>
                <a:cs typeface="Arial"/>
              </a:rPr>
              <a:t>01   Track status, due dates and priority</a:t>
            </a:r>
          </a:p>
        </p:txBody>
      </p:sp>
      <p:sp>
        <p:nvSpPr>
          <p:cNvPr id="4" name="">
            <a:extLst xmlns:a="http://schemas.openxmlformats.org/drawingml/2006/main">
              <a:ext uri="{FF2B5EF4-FFF2-40B4-BE49-F238E27FC236}">
                <a16:creationId xmlns:a16="http://schemas.microsoft.com/office/drawing/2014/main" id="{67F3EA7F-6BF8-4E8F-A5C5-F7420C10CD0C}"/>
              </a:ext>
            </a:extLst>
          </p:cNvPr>
          <p:cNvSpPr>
            <a:spLocks xmlns:a="http://schemas.openxmlformats.org/drawingml/2006/main" noGrp="1"/>
          </p:cNvSpPr>
          <p:nvPr/>
        </p:nvSpPr>
        <p:spPr>
          <a:xfrm xmlns:a="http://schemas.openxmlformats.org/drawingml/2006/main">
            <a:off x="857250" y="3238500"/>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0">
                <a:solidFill>
                  <a:srgbClr val="172C42"/>
                </a:solidFill>
                <a:latin typeface="Arial"/>
                <a:ea typeface="Arial"/>
                <a:cs typeface="Arial"/>
              </a:defRPr>
            </a:pPr>
            <a:r>
              <a:rPr sz="2175" b="0">
                <a:solidFill>
                  <a:srgbClr val="172C42"/>
                </a:solidFill>
                <a:latin typeface="Arial"/>
                <a:ea typeface="Arial"/>
                <a:cs typeface="Arial"/>
              </a:rPr>
              <a:t>02   Organize tasks with normalized tags</a:t>
            </a:r>
          </a:p>
        </p:txBody>
      </p:sp>
      <p:sp>
        <p:nvSpPr>
          <p:cNvPr id="5" name="">
            <a:extLst xmlns:a="http://schemas.openxmlformats.org/drawingml/2006/main">
              <a:ext uri="{FF2B5EF4-FFF2-40B4-BE49-F238E27FC236}">
                <a16:creationId xmlns:a16="http://schemas.microsoft.com/office/drawing/2014/main" id="{8972CA13-F8F3-4095-B9F3-9F4C3214C573}"/>
              </a:ext>
            </a:extLst>
          </p:cNvPr>
          <p:cNvSpPr>
            <a:spLocks xmlns:a="http://schemas.openxmlformats.org/drawingml/2006/main" noGrp="1"/>
          </p:cNvSpPr>
          <p:nvPr/>
        </p:nvSpPr>
        <p:spPr>
          <a:xfrm xmlns:a="http://schemas.openxmlformats.org/drawingml/2006/main">
            <a:off x="857250" y="4019550"/>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0">
                <a:solidFill>
                  <a:srgbClr val="172C42"/>
                </a:solidFill>
                <a:latin typeface="Arial"/>
                <a:ea typeface="Arial"/>
                <a:cs typeface="Arial"/>
              </a:defRPr>
            </a:pPr>
            <a:r>
              <a:rPr sz="2175" b="0">
                <a:solidFill>
                  <a:srgbClr val="172C42"/>
                </a:solidFill>
                <a:latin typeface="Arial"/>
                <a:ea typeface="Arial"/>
                <a:cs typeface="Arial"/>
              </a:rPr>
              <a:t>03   Search, filter and sort from the CLI</a:t>
            </a:r>
          </a:p>
        </p:txBody>
      </p:sp>
      <p:sp>
        <p:nvSpPr>
          <p:cNvPr id="6" name="">
            <a:extLst xmlns:a="http://schemas.openxmlformats.org/drawingml/2006/main">
              <a:ext uri="{FF2B5EF4-FFF2-40B4-BE49-F238E27FC236}">
                <a16:creationId xmlns:a16="http://schemas.microsoft.com/office/drawing/2014/main" id="{86EC4E16-541F-46B3-851A-E7B65A230486}"/>
              </a:ext>
            </a:extLst>
          </p:cNvPr>
          <p:cNvSpPr>
            <a:spLocks xmlns:a="http://schemas.openxmlformats.org/drawingml/2006/main" noGrp="1"/>
          </p:cNvSpPr>
          <p:nvPr/>
        </p:nvSpPr>
        <p:spPr>
          <a:xfrm xmlns:a="http://schemas.openxmlformats.org/drawingml/2006/main">
            <a:off x="857250" y="4800600"/>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0">
                <a:solidFill>
                  <a:srgbClr val="172C42"/>
                </a:solidFill>
                <a:latin typeface="Arial"/>
                <a:ea typeface="Arial"/>
                <a:cs typeface="Arial"/>
              </a:defRPr>
            </a:pPr>
            <a:r>
              <a:rPr sz="2175" b="0">
                <a:solidFill>
                  <a:srgbClr val="172C42"/>
                </a:solidFill>
                <a:latin typeface="Arial"/>
                <a:ea typeface="Arial"/>
                <a:cs typeface="Arial"/>
              </a:rPr>
              <a:t>04   Save and reload typed task objects in JSON</a:t>
            </a:r>
          </a:p>
        </p:txBody>
      </p:sp>
    </p:spTree>
    <p:extLst>
      <p:ext uri="{BB962C8B-B14F-4D97-AF65-F5344CB8AC3E}">
        <p14:creationId xmlns:p14="http://schemas.microsoft.com/office/powerpoint/2010/main" val="1620966027"/>
      </p:ext>
    </p:extLst>
  </p:cSld>
</p:sld>
</file>

<file path=ppt/slides/slide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CA0F4A-BC80-4D65-B427-17CE4CB299A2}"/>
              </a:ext>
            </a:extLst>
          </p:cNvPr>
          <p:cNvSpPr>
            <a:spLocks xmlns:a="http://schemas.openxmlformats.org/drawingml/2006/main" noGrp="1"/>
          </p:cNvSpPr>
          <p:nvPr/>
        </p:nvSpPr>
        <p:spPr>
          <a:xfrm xmlns:a="http://schemas.openxmlformats.org/drawingml/2006/main">
            <a:off x="723900" y="49530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050" b="1">
                <a:solidFill>
                  <a:srgbClr val="172C42"/>
                </a:solidFill>
                <a:latin typeface="Arial"/>
                <a:ea typeface="Arial"/>
                <a:cs typeface="Arial"/>
              </a:defRPr>
            </a:pPr>
            <a:r>
              <a:rPr sz="4050" b="1">
                <a:solidFill>
                  <a:srgbClr val="172C42"/>
                </a:solidFill>
                <a:latin typeface="Arial"/>
                <a:ea typeface="Arial"/>
                <a:cs typeface="Arial"/>
              </a:rPr>
              <a:t>Live demo</a:t>
            </a:r>
          </a:p>
        </p:txBody>
      </p:sp>
      <p:sp>
        <p:nvSpPr>
          <p:cNvPr id="2" name="">
            <a:extLst xmlns:a="http://schemas.openxmlformats.org/drawingml/2006/main">
              <a:ext uri="{FF2B5EF4-FFF2-40B4-BE49-F238E27FC236}">
                <a16:creationId xmlns:a16="http://schemas.microsoft.com/office/drawing/2014/main" id="{BF4BC984-04BF-4B75-B7DD-A587B543D9F5}"/>
              </a:ext>
            </a:extLst>
          </p:cNvPr>
          <p:cNvSpPr>
            <a:spLocks xmlns:a="http://schemas.openxmlformats.org/drawingml/2006/main" noGrp="1"/>
          </p:cNvSpPr>
          <p:nvPr/>
        </p:nvSpPr>
        <p:spPr>
          <a:xfrm xmlns:a="http://schemas.openxmlformats.org/drawingml/2006/main">
            <a:off x="800100" y="1562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0">
                <a:solidFill>
                  <a:srgbClr val="172C42"/>
                </a:solidFill>
                <a:latin typeface="Arial"/>
                <a:ea typeface="Arial"/>
                <a:cs typeface="Arial"/>
              </a:defRPr>
            </a:pPr>
            <a:r>
              <a:rPr sz="2175" b="0">
                <a:solidFill>
                  <a:srgbClr val="172C42"/>
                </a:solidFill>
                <a:latin typeface="Arial"/>
                <a:ea typeface="Arial"/>
                <a:cs typeface="Arial"/>
              </a:rPr>
              <a:t>1   Add a due-date task with tags</a:t>
            </a:r>
          </a:p>
        </p:txBody>
      </p:sp>
      <p:sp>
        <p:nvSpPr>
          <p:cNvPr id="3" name="">
            <a:extLst xmlns:a="http://schemas.openxmlformats.org/drawingml/2006/main">
              <a:ext uri="{FF2B5EF4-FFF2-40B4-BE49-F238E27FC236}">
                <a16:creationId xmlns:a16="http://schemas.microsoft.com/office/drawing/2014/main" id="{A5DA9F0C-F404-425B-A27E-3F5844DA1A8C}"/>
              </a:ext>
            </a:extLst>
          </p:cNvPr>
          <p:cNvSpPr>
            <a:spLocks xmlns:a="http://schemas.openxmlformats.org/drawingml/2006/main" noGrp="1"/>
          </p:cNvSpPr>
          <p:nvPr/>
        </p:nvSpPr>
        <p:spPr>
          <a:xfrm xmlns:a="http://schemas.openxmlformats.org/drawingml/2006/main">
            <a:off x="800100" y="23050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0">
                <a:solidFill>
                  <a:srgbClr val="172C42"/>
                </a:solidFill>
                <a:latin typeface="Arial"/>
                <a:ea typeface="Arial"/>
                <a:cs typeface="Arial"/>
              </a:defRPr>
            </a:pPr>
            <a:r>
              <a:rPr sz="2175" b="0">
                <a:solidFill>
                  <a:srgbClr val="172C42"/>
                </a:solidFill>
                <a:latin typeface="Arial"/>
                <a:ea typeface="Arial"/>
                <a:cs typeface="Arial"/>
              </a:rPr>
              <a:t>2   List tasks and search for “urgent”</a:t>
            </a:r>
          </a:p>
        </p:txBody>
      </p:sp>
      <p:sp>
        <p:nvSpPr>
          <p:cNvPr id="4" name="">
            <a:extLst xmlns:a="http://schemas.openxmlformats.org/drawingml/2006/main">
              <a:ext uri="{FF2B5EF4-FFF2-40B4-BE49-F238E27FC236}">
                <a16:creationId xmlns:a16="http://schemas.microsoft.com/office/drawing/2014/main" id="{23B1636A-25D9-49E1-B58D-AA6E202D0500}"/>
              </a:ext>
            </a:extLst>
          </p:cNvPr>
          <p:cNvSpPr>
            <a:spLocks xmlns:a="http://schemas.openxmlformats.org/drawingml/2006/main" noGrp="1"/>
          </p:cNvSpPr>
          <p:nvPr/>
        </p:nvSpPr>
        <p:spPr>
          <a:xfrm xmlns:a="http://schemas.openxmlformats.org/drawingml/2006/main">
            <a:off x="800100" y="30480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0">
                <a:solidFill>
                  <a:srgbClr val="172C42"/>
                </a:solidFill>
                <a:latin typeface="Arial"/>
                <a:ea typeface="Arial"/>
                <a:cs typeface="Arial"/>
              </a:defRPr>
            </a:pPr>
            <a:r>
              <a:rPr sz="2175" b="0">
                <a:solidFill>
                  <a:srgbClr val="172C42"/>
                </a:solidFill>
                <a:latin typeface="Arial"/>
                <a:ea typeface="Arial"/>
                <a:cs typeface="Arial"/>
              </a:rPr>
              <a:t>3   Filter by due date and tag</a:t>
            </a:r>
          </a:p>
        </p:txBody>
      </p:sp>
      <p:sp>
        <p:nvSpPr>
          <p:cNvPr id="5" name="">
            <a:extLst xmlns:a="http://schemas.openxmlformats.org/drawingml/2006/main">
              <a:ext uri="{FF2B5EF4-FFF2-40B4-BE49-F238E27FC236}">
                <a16:creationId xmlns:a16="http://schemas.microsoft.com/office/drawing/2014/main" id="{55B7EF51-DC32-4C9A-BAE1-EE92CD427648}"/>
              </a:ext>
            </a:extLst>
          </p:cNvPr>
          <p:cNvSpPr>
            <a:spLocks xmlns:a="http://schemas.openxmlformats.org/drawingml/2006/main" noGrp="1"/>
          </p:cNvSpPr>
          <p:nvPr/>
        </p:nvSpPr>
        <p:spPr>
          <a:xfrm xmlns:a="http://schemas.openxmlformats.org/drawingml/2006/main">
            <a:off x="800100" y="37909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0">
                <a:solidFill>
                  <a:srgbClr val="172C42"/>
                </a:solidFill>
                <a:latin typeface="Arial"/>
                <a:ea typeface="Arial"/>
                <a:cs typeface="Arial"/>
              </a:defRPr>
            </a:pPr>
            <a:r>
              <a:rPr sz="2175" b="0">
                <a:solidFill>
                  <a:srgbClr val="172C42"/>
                </a:solidFill>
                <a:latin typeface="Arial"/>
                <a:ea typeface="Arial"/>
                <a:cs typeface="Arial"/>
              </a:rPr>
              <a:t>4   Sort by priority</a:t>
            </a:r>
          </a:p>
        </p:txBody>
      </p:sp>
      <p:sp>
        <p:nvSpPr>
          <p:cNvPr id="6" name="">
            <a:extLst xmlns:a="http://schemas.openxmlformats.org/drawingml/2006/main">
              <a:ext uri="{FF2B5EF4-FFF2-40B4-BE49-F238E27FC236}">
                <a16:creationId xmlns:a16="http://schemas.microsoft.com/office/drawing/2014/main" id="{2D142E6A-E2CB-4661-AD35-5CA3F1328AD6}"/>
              </a:ext>
            </a:extLst>
          </p:cNvPr>
          <p:cNvSpPr>
            <a:spLocks xmlns:a="http://schemas.openxmlformats.org/drawingml/2006/main" noGrp="1"/>
          </p:cNvSpPr>
          <p:nvPr/>
        </p:nvSpPr>
        <p:spPr>
          <a:xfrm xmlns:a="http://schemas.openxmlformats.org/drawingml/2006/main">
            <a:off x="800100" y="45339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0">
                <a:solidFill>
                  <a:srgbClr val="172C42"/>
                </a:solidFill>
                <a:latin typeface="Arial"/>
                <a:ea typeface="Arial"/>
                <a:cs typeface="Arial"/>
              </a:defRPr>
            </a:pPr>
            <a:r>
              <a:rPr sz="2175" b="0">
                <a:solidFill>
                  <a:srgbClr val="172C42"/>
                </a:solidFill>
                <a:latin typeface="Arial"/>
                <a:ea typeface="Arial"/>
                <a:cs typeface="Arial"/>
              </a:rPr>
              <a:t>5   Complete a task, restart, and verify saved data</a:t>
            </a:r>
          </a:p>
        </p:txBody>
      </p:sp>
      <p:sp>
        <p:nvSpPr>
          <p:cNvPr id="7" name="">
            <a:extLst xmlns:a="http://schemas.openxmlformats.org/drawingml/2006/main">
              <a:ext uri="{FF2B5EF4-FFF2-40B4-BE49-F238E27FC236}">
                <a16:creationId xmlns:a16="http://schemas.microsoft.com/office/drawing/2014/main" id="{787FEB5E-CE80-4663-9B8F-B769288196FE}"/>
              </a:ext>
            </a:extLst>
          </p:cNvPr>
          <p:cNvSpPr>
            <a:spLocks xmlns:a="http://schemas.openxmlformats.org/drawingml/2006/main" noGrp="1"/>
          </p:cNvSpPr>
          <p:nvPr/>
        </p:nvSpPr>
        <p:spPr>
          <a:xfrm xmlns:a="http://schemas.openxmlformats.org/drawingml/2006/main">
            <a:off x="800100" y="55816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0B806F"/>
                </a:solidFill>
                <a:latin typeface="Arial"/>
                <a:ea typeface="Arial"/>
                <a:cs typeface="Arial"/>
              </a:defRPr>
            </a:pPr>
            <a:r>
              <a:rPr sz="1725" b="1">
                <a:solidFill>
                  <a:srgbClr val="0B806F"/>
                </a:solidFill>
                <a:latin typeface="Arial"/>
                <a:ea typeface="Arial"/>
                <a:cs typeface="Arial"/>
              </a:rPr>
              <a:t>Use menu choices 2 → 4 → 7 → 8 → 9 → 5 → 0</a:t>
            </a:r>
          </a:p>
        </p:txBody>
      </p:sp>
    </p:spTree>
    <p:extLst>
      <p:ext uri="{BB962C8B-B14F-4D97-AF65-F5344CB8AC3E}">
        <p14:creationId xmlns:p14="http://schemas.microsoft.com/office/powerpoint/2010/main" val="474367620"/>
      </p:ext>
    </p:extLst>
  </p:cSld>
</p:sld>
</file>

<file path=ppt/slides/slide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E37BEB-70B3-4039-AC0A-542C0456761C}"/>
              </a:ext>
            </a:extLst>
          </p:cNvPr>
          <p:cNvSpPr>
            <a:spLocks xmlns:a="http://schemas.openxmlformats.org/drawingml/2006/main" noGrp="1"/>
          </p:cNvSpPr>
          <p:nvPr/>
        </p:nvSpPr>
        <p:spPr>
          <a:xfrm xmlns:a="http://schemas.openxmlformats.org/drawingml/2006/main">
            <a:off x="723900" y="49530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050" b="1">
                <a:solidFill>
                  <a:srgbClr val="172C42"/>
                </a:solidFill>
                <a:latin typeface="Arial"/>
                <a:ea typeface="Arial"/>
                <a:cs typeface="Arial"/>
              </a:defRPr>
            </a:pPr>
            <a:r>
              <a:rPr sz="4050" b="1">
                <a:solidFill>
                  <a:srgbClr val="172C42"/>
                </a:solidFill>
                <a:latin typeface="Arial"/>
                <a:ea typeface="Arial"/>
                <a:cs typeface="Arial"/>
              </a:rPr>
              <a:t>Software architecture</a:t>
            </a:r>
          </a:p>
        </p:txBody>
      </p:sp>
      <p:sp>
        <p:nvSpPr>
          <p:cNvPr id="2" name="">
            <a:extLst xmlns:a="http://schemas.openxmlformats.org/drawingml/2006/main">
              <a:ext uri="{FF2B5EF4-FFF2-40B4-BE49-F238E27FC236}">
                <a16:creationId xmlns:a16="http://schemas.microsoft.com/office/drawing/2014/main" id="{26146748-AC2B-4F5C-94B6-D622CA6498F7}"/>
              </a:ext>
            </a:extLst>
          </p:cNvPr>
          <p:cNvSpPr>
            <a:spLocks xmlns:a="http://schemas.openxmlformats.org/drawingml/2006/main" noGrp="1"/>
          </p:cNvSpPr>
          <p:nvPr/>
        </p:nvSpPr>
        <p:spPr>
          <a:xfrm xmlns:a="http://schemas.openxmlformats.org/drawingml/2006/main">
            <a:off x="762000" y="18097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0B806F"/>
                </a:solidFill>
                <a:latin typeface="Arial"/>
                <a:ea typeface="Arial"/>
                <a:cs typeface="Arial"/>
              </a:defRPr>
            </a:pPr>
            <a:r>
              <a:rPr sz="2325" b="1">
                <a:solidFill>
                  <a:srgbClr val="0B806F"/>
                </a:solidFill>
                <a:latin typeface="Arial"/>
                <a:ea typeface="Arial"/>
                <a:cs typeface="Arial"/>
              </a:rPr>
              <a:t>CLI interface  →  TaskManager  →  DataPersistence  →  tasks.json</a:t>
            </a:r>
          </a:p>
        </p:txBody>
      </p:sp>
      <p:sp>
        <p:nvSpPr>
          <p:cNvPr id="3" name="">
            <a:extLst xmlns:a="http://schemas.openxmlformats.org/drawingml/2006/main">
              <a:ext uri="{FF2B5EF4-FFF2-40B4-BE49-F238E27FC236}">
                <a16:creationId xmlns:a16="http://schemas.microsoft.com/office/drawing/2014/main" id="{8E57ED0C-7CF8-42C6-9DE1-F32237ECF5D0}"/>
              </a:ext>
            </a:extLst>
          </p:cNvPr>
          <p:cNvSpPr>
            <a:spLocks xmlns:a="http://schemas.openxmlformats.org/drawingml/2006/main" noGrp="1"/>
          </p:cNvSpPr>
          <p:nvPr/>
        </p:nvSpPr>
        <p:spPr>
          <a:xfrm xmlns:a="http://schemas.openxmlformats.org/drawingml/2006/main">
            <a:off x="762000" y="2571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52677B"/>
                </a:solidFill>
                <a:latin typeface="Arial"/>
                <a:ea typeface="Arial"/>
                <a:cs typeface="Arial"/>
              </a:defRPr>
            </a:pPr>
            <a:r>
              <a:rPr sz="1650" b="0">
                <a:solidFill>
                  <a:srgbClr val="52677B"/>
                </a:solidFill>
                <a:latin typeface="Arial"/>
                <a:ea typeface="Arial"/>
                <a:cs typeface="Arial"/>
              </a:rPr>
              <a:t>Prompts &amp; validation       Search, filter, sort       JSON load/save</a:t>
            </a:r>
          </a:p>
        </p:txBody>
      </p:sp>
      <p:sp>
        <p:nvSpPr>
          <p:cNvPr id="4" name="">
            <a:extLst xmlns:a="http://schemas.openxmlformats.org/drawingml/2006/main">
              <a:ext uri="{FF2B5EF4-FFF2-40B4-BE49-F238E27FC236}">
                <a16:creationId xmlns:a16="http://schemas.microsoft.com/office/drawing/2014/main" id="{4DCC40FE-0207-4ECA-848E-C7916D3EAF83}"/>
              </a:ext>
            </a:extLst>
          </p:cNvPr>
          <p:cNvSpPr>
            <a:spLocks xmlns:a="http://schemas.openxmlformats.org/drawingml/2006/main" noGrp="1"/>
          </p:cNvSpPr>
          <p:nvPr/>
        </p:nvSpPr>
        <p:spPr>
          <a:xfrm xmlns:a="http://schemas.openxmlformats.org/drawingml/2006/main">
            <a:off x="4686300" y="388620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850" b="1">
                <a:solidFill>
                  <a:srgbClr val="172C42"/>
                </a:solidFill>
                <a:latin typeface="Arial"/>
                <a:ea typeface="Arial"/>
                <a:cs typeface="Arial"/>
              </a:defRPr>
            </a:pPr>
            <a:r>
              <a:rPr sz="2850" b="1">
                <a:solidFill>
                  <a:srgbClr val="172C42"/>
                </a:solidFill>
                <a:latin typeface="Arial"/>
                <a:ea typeface="Arial"/>
                <a:cs typeface="Arial"/>
              </a:rPr>
              <a:t>Task</a:t>
            </a:r>
          </a:p>
        </p:txBody>
      </p:sp>
      <p:sp>
        <p:nvSpPr>
          <p:cNvPr id="5" name="">
            <a:extLst xmlns:a="http://schemas.openxmlformats.org/drawingml/2006/main">
              <a:ext uri="{FF2B5EF4-FFF2-40B4-BE49-F238E27FC236}">
                <a16:creationId xmlns:a16="http://schemas.microsoft.com/office/drawing/2014/main" id="{AF2CE3AD-4697-454C-B0D3-FB73B4F300F8}"/>
              </a:ext>
            </a:extLst>
          </p:cNvPr>
          <p:cNvSpPr>
            <a:spLocks xmlns:a="http://schemas.openxmlformats.org/drawingml/2006/main" noGrp="1"/>
          </p:cNvSpPr>
          <p:nvPr/>
        </p:nvSpPr>
        <p:spPr>
          <a:xfrm xmlns:a="http://schemas.openxmlformats.org/drawingml/2006/main">
            <a:off x="3028950" y="4495800"/>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0B806F"/>
                </a:solidFill>
                <a:latin typeface="Arial"/>
                <a:ea typeface="Arial"/>
                <a:cs typeface="Arial"/>
              </a:defRPr>
            </a:pPr>
            <a:r>
              <a:rPr sz="2700" b="1">
                <a:solidFill>
                  <a:srgbClr val="0B806F"/>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5BBC9FDA-5A65-439B-B95D-9B347AF3E2E5}"/>
              </a:ext>
            </a:extLst>
          </p:cNvPr>
          <p:cNvSpPr>
            <a:spLocks xmlns:a="http://schemas.openxmlformats.org/drawingml/2006/main" noGrp="1"/>
          </p:cNvSpPr>
          <p:nvPr/>
        </p:nvSpPr>
        <p:spPr>
          <a:xfrm xmlns:a="http://schemas.openxmlformats.org/drawingml/2006/main">
            <a:off x="857250" y="5048250"/>
            <a:ext cx="419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72C42"/>
                </a:solidFill>
                <a:latin typeface="Arial"/>
                <a:ea typeface="Arial"/>
                <a:cs typeface="Arial"/>
              </a:defRPr>
            </a:pPr>
            <a:r>
              <a:rPr sz="2250" b="1">
                <a:solidFill>
                  <a:srgbClr val="172C42"/>
                </a:solidFill>
                <a:latin typeface="Arial"/>
                <a:ea typeface="Arial"/>
                <a:cs typeface="Arial"/>
              </a:rPr>
              <a:t>DueDateTask</a:t>
            </a:r>
          </a:p>
        </p:txBody>
      </p:sp>
      <p:sp>
        <p:nvSpPr>
          <p:cNvPr id="7" name="">
            <a:extLst xmlns:a="http://schemas.openxmlformats.org/drawingml/2006/main">
              <a:ext uri="{FF2B5EF4-FFF2-40B4-BE49-F238E27FC236}">
                <a16:creationId xmlns:a16="http://schemas.microsoft.com/office/drawing/2014/main" id="{1536A07A-FB26-4692-B9A3-AE48066BEDC7}"/>
              </a:ext>
            </a:extLst>
          </p:cNvPr>
          <p:cNvSpPr>
            <a:spLocks xmlns:a="http://schemas.openxmlformats.org/drawingml/2006/main" noGrp="1"/>
          </p:cNvSpPr>
          <p:nvPr/>
        </p:nvSpPr>
        <p:spPr>
          <a:xfrm xmlns:a="http://schemas.openxmlformats.org/drawingml/2006/main">
            <a:off x="7067550" y="5048250"/>
            <a:ext cx="419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72C42"/>
                </a:solidFill>
                <a:latin typeface="Arial"/>
                <a:ea typeface="Arial"/>
                <a:cs typeface="Arial"/>
              </a:defRPr>
            </a:pPr>
            <a:r>
              <a:rPr sz="2250" b="1">
                <a:solidFill>
                  <a:srgbClr val="172C42"/>
                </a:solidFill>
                <a:latin typeface="Arial"/>
                <a:ea typeface="Arial"/>
                <a:cs typeface="Arial"/>
              </a:rPr>
              <a:t>PriorityTask</a:t>
            </a:r>
          </a:p>
        </p:txBody>
      </p:sp>
      <p:sp>
        <p:nvSpPr>
          <p:cNvPr id="8" name="">
            <a:extLst xmlns:a="http://schemas.openxmlformats.org/drawingml/2006/main">
              <a:ext uri="{FF2B5EF4-FFF2-40B4-BE49-F238E27FC236}">
                <a16:creationId xmlns:a16="http://schemas.microsoft.com/office/drawing/2014/main" id="{60273223-7609-4027-B120-4C7B646C5D39}"/>
              </a:ext>
            </a:extLst>
          </p:cNvPr>
          <p:cNvSpPr>
            <a:spLocks xmlns:a="http://schemas.openxmlformats.org/drawingml/2006/main" noGrp="1"/>
          </p:cNvSpPr>
          <p:nvPr/>
        </p:nvSpPr>
        <p:spPr>
          <a:xfrm xmlns:a="http://schemas.openxmlformats.org/drawingml/2006/main">
            <a:off x="7258050" y="4495800"/>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0B806F"/>
                </a:solidFill>
                <a:latin typeface="Arial"/>
                <a:ea typeface="Arial"/>
                <a:cs typeface="Arial"/>
              </a:defRPr>
            </a:pPr>
            <a:r>
              <a:rPr sz="2700" b="1">
                <a:solidFill>
                  <a:srgbClr val="0B806F"/>
                </a:solidFill>
                <a:latin typeface="Arial"/>
                <a:ea typeface="Arial"/>
                <a:cs typeface="Arial"/>
              </a:rPr>
              <a:t>↘</a:t>
            </a:r>
          </a:p>
        </p:txBody>
      </p:sp>
    </p:spTree>
    <p:extLst>
      <p:ext uri="{BB962C8B-B14F-4D97-AF65-F5344CB8AC3E}">
        <p14:creationId xmlns:p14="http://schemas.microsoft.com/office/powerpoint/2010/main" val="1683738672"/>
      </p:ext>
    </p:extLst>
  </p:cSld>
</p:sld>
</file>

<file path=ppt/slides/slide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1FD306-84BC-4D95-9BB8-0D573D06AD20}"/>
              </a:ext>
            </a:extLst>
          </p:cNvPr>
          <p:cNvSpPr>
            <a:spLocks xmlns:a="http://schemas.openxmlformats.org/drawingml/2006/main" noGrp="1"/>
          </p:cNvSpPr>
          <p:nvPr/>
        </p:nvSpPr>
        <p:spPr>
          <a:xfrm xmlns:a="http://schemas.openxmlformats.org/drawingml/2006/main">
            <a:off x="723900" y="49530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050" b="1">
                <a:solidFill>
                  <a:srgbClr val="172C42"/>
                </a:solidFill>
                <a:latin typeface="Arial"/>
                <a:ea typeface="Arial"/>
                <a:cs typeface="Arial"/>
              </a:defRPr>
            </a:pPr>
            <a:r>
              <a:rPr sz="4050" b="1">
                <a:solidFill>
                  <a:srgbClr val="172C42"/>
                </a:solidFill>
                <a:latin typeface="Arial"/>
                <a:ea typeface="Arial"/>
                <a:cs typeface="Arial"/>
              </a:rPr>
              <a:t>Technical challenges and solutions</a:t>
            </a:r>
          </a:p>
        </p:txBody>
      </p:sp>
      <p:sp>
        <p:nvSpPr>
          <p:cNvPr id="2" name="">
            <a:extLst xmlns:a="http://schemas.openxmlformats.org/drawingml/2006/main">
              <a:ext uri="{FF2B5EF4-FFF2-40B4-BE49-F238E27FC236}">
                <a16:creationId xmlns:a16="http://schemas.microsoft.com/office/drawing/2014/main" id="{E8E2A3D5-8486-4943-8188-F166F108BD5B}"/>
              </a:ext>
            </a:extLst>
          </p:cNvPr>
          <p:cNvSpPr>
            <a:spLocks xmlns:a="http://schemas.openxmlformats.org/drawingml/2006/main" noGrp="1"/>
          </p:cNvSpPr>
          <p:nvPr/>
        </p:nvSpPr>
        <p:spPr>
          <a:xfrm xmlns:a="http://schemas.openxmlformats.org/drawingml/2006/main">
            <a:off x="781050" y="15621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defRPr sz="2175" b="1">
                <a:solidFill>
                  <a:srgbClr val="0B806F"/>
                </a:solidFill>
                <a:latin typeface="Arial"/>
                <a:ea typeface="Arial"/>
                <a:cs typeface="Arial"/>
              </a:defRPr>
            </a:pPr>
            <a:r>
              <a:rPr sz="2175" b="1">
                <a:solidFill>
                  <a:srgbClr val="0B806F"/>
                </a:solidFill>
                <a:latin typeface="Arial"/>
                <a:ea typeface="Arial"/>
                <a:cs typeface="Arial"/>
              </a:rPr>
              <a:t>Mixed task types during sorting</a:t>
            </a:r>
          </a:p>
        </p:txBody>
      </p:sp>
      <p:sp>
        <p:nvSpPr>
          <p:cNvPr id="3" name="">
            <a:extLst xmlns:a="http://schemas.openxmlformats.org/drawingml/2006/main">
              <a:ext uri="{FF2B5EF4-FFF2-40B4-BE49-F238E27FC236}">
                <a16:creationId xmlns:a16="http://schemas.microsoft.com/office/drawing/2014/main" id="{DD818AF2-2927-4B1D-A1F9-B4A2DB846AAC}"/>
              </a:ext>
            </a:extLst>
          </p:cNvPr>
          <p:cNvSpPr>
            <a:spLocks xmlns:a="http://schemas.openxmlformats.org/drawingml/2006/main" noGrp="1"/>
          </p:cNvSpPr>
          <p:nvPr/>
        </p:nvSpPr>
        <p:spPr>
          <a:xfrm xmlns:a="http://schemas.openxmlformats.org/drawingml/2006/main">
            <a:off x="781050" y="19812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0">
                <a:solidFill>
                  <a:srgbClr val="172C42"/>
                </a:solidFill>
                <a:latin typeface="Arial"/>
                <a:ea typeface="Arial"/>
                <a:cs typeface="Arial"/>
              </a:defRPr>
            </a:pPr>
            <a:r>
              <a:rPr sz="1800" b="0">
                <a:solidFill>
                  <a:srgbClr val="172C42"/>
                </a:solidFill>
                <a:latin typeface="Arial"/>
                <a:ea typeface="Arial"/>
                <a:cs typeface="Arial"/>
              </a:rPr>
              <a:t>Sort tasks with a due date or priority separately; keep other tasks last.</a:t>
            </a:r>
          </a:p>
        </p:txBody>
      </p:sp>
      <p:sp>
        <p:nvSpPr>
          <p:cNvPr id="4" name="">
            <a:extLst xmlns:a="http://schemas.openxmlformats.org/drawingml/2006/main">
              <a:ext uri="{FF2B5EF4-FFF2-40B4-BE49-F238E27FC236}">
                <a16:creationId xmlns:a16="http://schemas.microsoft.com/office/drawing/2014/main" id="{B1F1E527-8C82-4302-AD11-FCB87DADFD05}"/>
              </a:ext>
            </a:extLst>
          </p:cNvPr>
          <p:cNvSpPr>
            <a:spLocks xmlns:a="http://schemas.openxmlformats.org/drawingml/2006/main" noGrp="1"/>
          </p:cNvSpPr>
          <p:nvPr/>
        </p:nvSpPr>
        <p:spPr>
          <a:xfrm xmlns:a="http://schemas.openxmlformats.org/drawingml/2006/main">
            <a:off x="781050" y="28003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defRPr sz="2175" b="1">
                <a:solidFill>
                  <a:srgbClr val="0B806F"/>
                </a:solidFill>
                <a:latin typeface="Arial"/>
                <a:ea typeface="Arial"/>
                <a:cs typeface="Arial"/>
              </a:defRPr>
            </a:pPr>
            <a:r>
              <a:rPr sz="2175" b="1">
                <a:solidFill>
                  <a:srgbClr val="0B806F"/>
                </a:solidFill>
                <a:latin typeface="Arial"/>
                <a:ea typeface="Arial"/>
                <a:cs typeface="Arial"/>
              </a:rPr>
              <a:t>Filters on specialized fields</a:t>
            </a:r>
          </a:p>
        </p:txBody>
      </p:sp>
      <p:sp>
        <p:nvSpPr>
          <p:cNvPr id="5" name="">
            <a:extLst xmlns:a="http://schemas.openxmlformats.org/drawingml/2006/main">
              <a:ext uri="{FF2B5EF4-FFF2-40B4-BE49-F238E27FC236}">
                <a16:creationId xmlns:a16="http://schemas.microsoft.com/office/drawing/2014/main" id="{0FD3A4F0-6F61-4033-A863-22F8937AD428}"/>
              </a:ext>
            </a:extLst>
          </p:cNvPr>
          <p:cNvSpPr>
            <a:spLocks xmlns:a="http://schemas.openxmlformats.org/drawingml/2006/main" noGrp="1"/>
          </p:cNvSpPr>
          <p:nvPr/>
        </p:nvSpPr>
        <p:spPr>
          <a:xfrm xmlns:a="http://schemas.openxmlformats.org/drawingml/2006/main">
            <a:off x="781050" y="32194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0">
                <a:solidFill>
                  <a:srgbClr val="172C42"/>
                </a:solidFill>
                <a:latin typeface="Arial"/>
                <a:ea typeface="Arial"/>
                <a:cs typeface="Arial"/>
              </a:defRPr>
            </a:pPr>
            <a:r>
              <a:rPr sz="1800" b="0">
                <a:solidFill>
                  <a:srgbClr val="172C42"/>
                </a:solidFill>
                <a:latin typeface="Arial"/>
                <a:ea typeface="Arial"/>
                <a:cs typeface="Arial"/>
              </a:rPr>
              <a:t>Check the class before reading due_date or priority.</a:t>
            </a:r>
          </a:p>
        </p:txBody>
      </p:sp>
      <p:sp>
        <p:nvSpPr>
          <p:cNvPr id="6" name="">
            <a:extLst xmlns:a="http://schemas.openxmlformats.org/drawingml/2006/main">
              <a:ext uri="{FF2B5EF4-FFF2-40B4-BE49-F238E27FC236}">
                <a16:creationId xmlns:a16="http://schemas.microsoft.com/office/drawing/2014/main" id="{83CC96E9-2AF8-485F-B822-79A99794D454}"/>
              </a:ext>
            </a:extLst>
          </p:cNvPr>
          <p:cNvSpPr>
            <a:spLocks xmlns:a="http://schemas.openxmlformats.org/drawingml/2006/main" noGrp="1"/>
          </p:cNvSpPr>
          <p:nvPr/>
        </p:nvSpPr>
        <p:spPr>
          <a:xfrm xmlns:a="http://schemas.openxmlformats.org/drawingml/2006/main">
            <a:off x="781050" y="39624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defRPr sz="2175" b="1">
                <a:solidFill>
                  <a:srgbClr val="0B806F"/>
                </a:solidFill>
                <a:latin typeface="Arial"/>
                <a:ea typeface="Arial"/>
                <a:cs typeface="Arial"/>
              </a:defRPr>
            </a:pPr>
            <a:r>
              <a:rPr sz="2175" b="1">
                <a:solidFill>
                  <a:srgbClr val="0B806F"/>
                </a:solidFill>
                <a:latin typeface="Arial"/>
                <a:ea typeface="Arial"/>
                <a:cs typeface="Arial"/>
              </a:rPr>
              <a:t>Older JSON records</a:t>
            </a:r>
          </a:p>
        </p:txBody>
      </p:sp>
      <p:sp>
        <p:nvSpPr>
          <p:cNvPr id="7" name="">
            <a:extLst xmlns:a="http://schemas.openxmlformats.org/drawingml/2006/main">
              <a:ext uri="{FF2B5EF4-FFF2-40B4-BE49-F238E27FC236}">
                <a16:creationId xmlns:a16="http://schemas.microsoft.com/office/drawing/2014/main" id="{1E97FB73-1542-48DD-A8AD-7550BC6A41E1}"/>
              </a:ext>
            </a:extLst>
          </p:cNvPr>
          <p:cNvSpPr>
            <a:spLocks xmlns:a="http://schemas.openxmlformats.org/drawingml/2006/main" noGrp="1"/>
          </p:cNvSpPr>
          <p:nvPr/>
        </p:nvSpPr>
        <p:spPr>
          <a:xfrm xmlns:a="http://schemas.openxmlformats.org/drawingml/2006/main">
            <a:off x="781050" y="43815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0">
                <a:solidFill>
                  <a:srgbClr val="172C42"/>
                </a:solidFill>
                <a:latin typeface="Arial"/>
                <a:ea typeface="Arial"/>
                <a:cs typeface="Arial"/>
              </a:defRPr>
            </a:pPr>
            <a:r>
              <a:rPr sz="1800" b="0">
                <a:solidFill>
                  <a:srgbClr val="172C42"/>
                </a:solidFill>
                <a:latin typeface="Arial"/>
                <a:ea typeface="Arial"/>
                <a:cs typeface="Arial"/>
              </a:rPr>
              <a:t>Use _type to restore the original class and default missing tags.</a:t>
            </a:r>
          </a:p>
        </p:txBody>
      </p:sp>
    </p:spTree>
    <p:extLst>
      <p:ext uri="{BB962C8B-B14F-4D97-AF65-F5344CB8AC3E}">
        <p14:creationId xmlns:p14="http://schemas.microsoft.com/office/powerpoint/2010/main" val="71016696"/>
      </p:ext>
    </p:extLst>
  </p:cSld>
</p:sld>
</file>

<file path=ppt/slides/slide6.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B2A3FD-AD23-464E-B639-EB5CE5293F82}"/>
              </a:ext>
            </a:extLst>
          </p:cNvPr>
          <p:cNvSpPr>
            <a:spLocks xmlns:a="http://schemas.openxmlformats.org/drawingml/2006/main" noGrp="1"/>
          </p:cNvSpPr>
          <p:nvPr/>
        </p:nvSpPr>
        <p:spPr>
          <a:xfrm xmlns:a="http://schemas.openxmlformats.org/drawingml/2006/main">
            <a:off x="723900" y="49530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050" b="1">
                <a:solidFill>
                  <a:srgbClr val="172C42"/>
                </a:solidFill>
                <a:latin typeface="Arial"/>
                <a:ea typeface="Arial"/>
                <a:cs typeface="Arial"/>
              </a:defRPr>
            </a:pPr>
            <a:r>
              <a:rPr sz="4050" b="1">
                <a:solidFill>
                  <a:srgbClr val="172C42"/>
                </a:solidFill>
                <a:latin typeface="Arial"/>
                <a:ea typeface="Arial"/>
                <a:cs typeface="Arial"/>
              </a:rPr>
              <a:t>Lessons learned</a:t>
            </a:r>
          </a:p>
        </p:txBody>
      </p:sp>
      <p:sp>
        <p:nvSpPr>
          <p:cNvPr id="2" name="">
            <a:extLst xmlns:a="http://schemas.openxmlformats.org/drawingml/2006/main">
              <a:ext uri="{FF2B5EF4-FFF2-40B4-BE49-F238E27FC236}">
                <a16:creationId xmlns:a16="http://schemas.microsoft.com/office/drawing/2014/main" id="{20EC2C89-AA7C-4690-BB8A-1E84F4E88124}"/>
              </a:ext>
            </a:extLst>
          </p:cNvPr>
          <p:cNvSpPr>
            <a:spLocks xmlns:a="http://schemas.openxmlformats.org/drawingml/2006/main" noGrp="1"/>
          </p:cNvSpPr>
          <p:nvPr/>
        </p:nvSpPr>
        <p:spPr>
          <a:xfrm xmlns:a="http://schemas.openxmlformats.org/drawingml/2006/main">
            <a:off x="781050" y="18097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Inheritance keeps shared task behavior in one place.</a:t>
            </a:r>
          </a:p>
        </p:txBody>
      </p:sp>
      <p:sp>
        <p:nvSpPr>
          <p:cNvPr id="3" name="">
            <a:extLst xmlns:a="http://schemas.openxmlformats.org/drawingml/2006/main">
              <a:ext uri="{FF2B5EF4-FFF2-40B4-BE49-F238E27FC236}">
                <a16:creationId xmlns:a16="http://schemas.microsoft.com/office/drawing/2014/main" id="{3C7DEA8E-EAB1-403E-869E-8A003FE5FE66}"/>
              </a:ext>
            </a:extLst>
          </p:cNvPr>
          <p:cNvSpPr>
            <a:spLocks xmlns:a="http://schemas.openxmlformats.org/drawingml/2006/main" noGrp="1"/>
          </p:cNvSpPr>
          <p:nvPr/>
        </p:nvSpPr>
        <p:spPr>
          <a:xfrm xmlns:a="http://schemas.openxmlformats.org/drawingml/2006/main">
            <a:off x="781050" y="28575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Polymorphism lets each task serialize its own fields.</a:t>
            </a:r>
          </a:p>
        </p:txBody>
      </p:sp>
      <p:sp>
        <p:nvSpPr>
          <p:cNvPr id="4" name="">
            <a:extLst xmlns:a="http://schemas.openxmlformats.org/drawingml/2006/main">
              <a:ext uri="{FF2B5EF4-FFF2-40B4-BE49-F238E27FC236}">
                <a16:creationId xmlns:a16="http://schemas.microsoft.com/office/drawing/2014/main" id="{CC6A6F40-7070-4B63-90E6-507C34DA05B1}"/>
              </a:ext>
            </a:extLst>
          </p:cNvPr>
          <p:cNvSpPr>
            <a:spLocks xmlns:a="http://schemas.openxmlformats.org/drawingml/2006/main" noGrp="1"/>
          </p:cNvSpPr>
          <p:nvPr/>
        </p:nvSpPr>
        <p:spPr>
          <a:xfrm xmlns:a="http://schemas.openxmlformats.org/drawingml/2006/main">
            <a:off x="781050" y="39052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Separate modules make features easier to test and change.</a:t>
            </a:r>
          </a:p>
        </p:txBody>
      </p:sp>
    </p:spTree>
    <p:extLst>
      <p:ext uri="{BB962C8B-B14F-4D97-AF65-F5344CB8AC3E}">
        <p14:creationId xmlns:p14="http://schemas.microsoft.com/office/powerpoint/2010/main" val="460993269"/>
      </p:ext>
    </p:extLst>
  </p:cSld>
</p:sld>
</file>

<file path=ppt/slides/slide7.xml><?xml version="1.0" encoding="utf-8"?>
<p:sld xmlns:p="http://schemas.openxmlformats.org/presentationml/2006/main">
  <p:cSld>
    <p:bg>
      <p:bgPr>
        <a:solidFill xmlns:a="http://schemas.openxmlformats.org/drawingml/2006/main">
          <a:srgbClr val="1024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02B830-B292-40CE-8B41-ED703AD6B307}"/>
              </a:ext>
            </a:extLst>
          </p:cNvPr>
          <p:cNvSpPr>
            <a:spLocks xmlns:a="http://schemas.openxmlformats.org/drawingml/2006/main" noGrp="1"/>
          </p:cNvSpPr>
          <p:nvPr/>
        </p:nvSpPr>
        <p:spPr>
          <a:xfrm xmlns:a="http://schemas.openxmlformats.org/drawingml/2006/main">
            <a:off x="723900" y="495300"/>
            <a:ext cx="10744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Future work and Q&amp;A</a:t>
            </a:r>
          </a:p>
        </p:txBody>
      </p:sp>
      <p:sp>
        <p:nvSpPr>
          <p:cNvPr id="2" name="">
            <a:extLst xmlns:a="http://schemas.openxmlformats.org/drawingml/2006/main">
              <a:ext uri="{FF2B5EF4-FFF2-40B4-BE49-F238E27FC236}">
                <a16:creationId xmlns:a16="http://schemas.microsoft.com/office/drawing/2014/main" id="{B1DE0E19-FD2A-4CDB-A3EF-17361D23B3CF}"/>
              </a:ext>
            </a:extLst>
          </p:cNvPr>
          <p:cNvSpPr>
            <a:spLocks xmlns:a="http://schemas.openxmlformats.org/drawingml/2006/main" noGrp="1"/>
          </p:cNvSpPr>
          <p:nvPr/>
        </p:nvSpPr>
        <p:spPr>
          <a:xfrm xmlns:a="http://schemas.openxmlformats.org/drawingml/2006/main">
            <a:off x="762000" y="171450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9AD8C8"/>
                </a:solidFill>
                <a:latin typeface="Arial"/>
                <a:ea typeface="Arial"/>
                <a:cs typeface="Arial"/>
              </a:defRPr>
            </a:pPr>
            <a:r>
              <a:rPr sz="2400" b="1">
                <a:solidFill>
                  <a:srgbClr val="9AD8C8"/>
                </a:solidFill>
                <a:latin typeface="Arial"/>
                <a:ea typeface="Arial"/>
                <a:cs typeface="Arial"/>
              </a:rPr>
              <a:t>Possible next steps</a:t>
            </a:r>
          </a:p>
        </p:txBody>
      </p:sp>
      <p:sp>
        <p:nvSpPr>
          <p:cNvPr id="3" name="">
            <a:extLst xmlns:a="http://schemas.openxmlformats.org/drawingml/2006/main">
              <a:ext uri="{FF2B5EF4-FFF2-40B4-BE49-F238E27FC236}">
                <a16:creationId xmlns:a16="http://schemas.microsoft.com/office/drawing/2014/main" id="{BEA9FE84-943C-4722-8F57-F399973FFECF}"/>
              </a:ext>
            </a:extLst>
          </p:cNvPr>
          <p:cNvSpPr>
            <a:spLocks xmlns:a="http://schemas.openxmlformats.org/drawingml/2006/main" noGrp="1"/>
          </p:cNvSpPr>
          <p:nvPr/>
        </p:nvSpPr>
        <p:spPr>
          <a:xfrm xmlns:a="http://schemas.openxmlformats.org/drawingml/2006/main">
            <a:off x="762000" y="2476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Edit tasks   •   Recurring reminders   •   CSV export</a:t>
            </a:r>
          </a:p>
        </p:txBody>
      </p:sp>
      <p:sp>
        <p:nvSpPr>
          <p:cNvPr id="4" name="">
            <a:extLst xmlns:a="http://schemas.openxmlformats.org/drawingml/2006/main">
              <a:ext uri="{FF2B5EF4-FFF2-40B4-BE49-F238E27FC236}">
                <a16:creationId xmlns:a16="http://schemas.microsoft.com/office/drawing/2014/main" id="{4F7D3B85-7961-4FB1-A2DF-CF996B127EF4}"/>
              </a:ext>
            </a:extLst>
          </p:cNvPr>
          <p:cNvSpPr>
            <a:spLocks xmlns:a="http://schemas.openxmlformats.org/drawingml/2006/main" noGrp="1"/>
          </p:cNvSpPr>
          <p:nvPr/>
        </p:nvSpPr>
        <p:spPr>
          <a:xfrm xmlns:a="http://schemas.openxmlformats.org/drawingml/2006/main">
            <a:off x="762000" y="44291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Questions?</a:t>
            </a:r>
          </a:p>
        </p:txBody>
      </p:sp>
    </p:spTree>
    <p:extLst>
      <p:ext uri="{BB962C8B-B14F-4D97-AF65-F5344CB8AC3E}">
        <p14:creationId xmlns:p14="http://schemas.microsoft.com/office/powerpoint/2010/main" val="11405500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2026-09-30T06:58:43.1400000Z</dcterms:created>
  <dcterms:modified xsi:type="dcterms:W3CDTF">2026-09-30T06:58:43.1400000Z</dcterms:modified>
</coreProperties>
</file>